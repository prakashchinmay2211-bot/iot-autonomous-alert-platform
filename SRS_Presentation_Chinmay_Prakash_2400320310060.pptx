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F2FE"/>
                </a:solidFill>
              </a:defRPr>
            </a:pPr>
            <a:r>
              <a:t>ABES ENGINEERING COLLEGE, GHAZIABAD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Department of Electronics and Communication Engineering (ECE)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2011680"/>
          </a:xfrm>
          <a:prstGeom prst="roundRect">
            <a:avLst/>
          </a:prstGeom>
          <a:solidFill>
            <a:srgbClr val="131B2E"/>
          </a:solidFill>
          <a:ln w="254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Autonomous IoT Decision &amp; Alert Management Platform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t>Edge-to-Cloud Cyber-Physical System: MQTT, Machine Learning, Node-RED, Grafana &amp; Streamlit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0690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STUDENT CANDIDATE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48463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b="1" sz="1200">
                <a:solidFill>
                  <a:srgbClr val="38BDF8"/>
                </a:solidFill>
              </a:rPr>
              <a:t>Student Name: </a:t>
            </a:r>
            <a:r>
              <a:rPr sz="1200">
                <a:solidFill>
                  <a:srgbClr val="E2E8F0"/>
                </a:solidFill>
              </a:rPr>
              <a:t>Chinmay Prakash</a:t>
            </a:r>
          </a:p>
          <a:p>
            <a:r>
              <a:rPr b="1" sz="1200">
                <a:solidFill>
                  <a:srgbClr val="38BDF8"/>
                </a:solidFill>
              </a:rPr>
              <a:t>University Roll No: </a:t>
            </a:r>
            <a:r>
              <a:rPr sz="1200">
                <a:solidFill>
                  <a:srgbClr val="E2E8F0"/>
                </a:solidFill>
              </a:rPr>
              <a:t>2400320310060</a:t>
            </a:r>
          </a:p>
          <a:p>
            <a:r>
              <a:rPr b="1" sz="1200">
                <a:solidFill>
                  <a:srgbClr val="38BDF8"/>
                </a:solidFill>
              </a:rPr>
              <a:t>Program / Batch: </a:t>
            </a:r>
            <a:r>
              <a:rPr sz="1200">
                <a:solidFill>
                  <a:srgbClr val="E2E8F0"/>
                </a:solidFill>
              </a:rPr>
              <a:t>B.Tech ECE (Batch 2024–28)</a:t>
            </a:r>
          </a:p>
          <a:p>
            <a:r>
              <a:rPr b="1" sz="1200">
                <a:solidFill>
                  <a:srgbClr val="38BDF8"/>
                </a:solidFill>
              </a:rPr>
              <a:t>Academic Year: </a:t>
            </a:r>
            <a:r>
              <a:rPr sz="1200">
                <a:solidFill>
                  <a:srgbClr val="E2E8F0"/>
                </a:solidFill>
              </a:rPr>
              <a:t>2026–27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242255" cy="2286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4069080"/>
            <a:ext cx="47850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PROJECT SUPERVISION &amp; DOMAIN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389120"/>
            <a:ext cx="48463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b="1" sz="1200">
                <a:solidFill>
                  <a:srgbClr val="38BDF8"/>
                </a:solidFill>
              </a:rPr>
              <a:t>Project Supervisor: </a:t>
            </a:r>
            <a:r>
              <a:rPr sz="1200">
                <a:solidFill>
                  <a:srgbClr val="E2E8F0"/>
                </a:solidFill>
              </a:rPr>
              <a:t>Ashish Kumar</a:t>
            </a:r>
          </a:p>
          <a:p>
            <a:r>
              <a:rPr b="1" sz="1200">
                <a:solidFill>
                  <a:srgbClr val="38BDF8"/>
                </a:solidFill>
              </a:rPr>
              <a:t>Domain Area: </a:t>
            </a:r>
            <a:r>
              <a:rPr sz="1200">
                <a:solidFill>
                  <a:srgbClr val="E2E8F0"/>
                </a:solidFill>
              </a:rPr>
              <a:t>AIoT / Cyber-Physical Systems</a:t>
            </a:r>
          </a:p>
          <a:p>
            <a:r>
              <a:rPr b="1" sz="1200">
                <a:solidFill>
                  <a:srgbClr val="38BDF8"/>
                </a:solidFill>
              </a:rPr>
              <a:t>Hosting Platform: </a:t>
            </a:r>
            <a:r>
              <a:rPr sz="1200">
                <a:solidFill>
                  <a:srgbClr val="E2E8F0"/>
                </a:solidFill>
              </a:rPr>
              <a:t>Streamlit Community Cloud (24/7 Free)</a:t>
            </a:r>
          </a:p>
          <a:p>
            <a:r>
              <a:rPr b="1" sz="1200">
                <a:solidFill>
                  <a:srgbClr val="38BDF8"/>
                </a:solidFill>
              </a:rPr>
              <a:t>Repository: </a:t>
            </a:r>
            <a:r>
              <a:rPr sz="1200">
                <a:solidFill>
                  <a:srgbClr val="E2E8F0"/>
                </a:solidFill>
              </a:rPr>
              <a:t>github.com/prakashchinmay2211-bot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MINI PROJECT PRESENTATION | B.TECH (BATCH 2024–28)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Abstract &amp; Industrial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EXECUTIVE ABSTRACT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7548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E2E8F0"/>
                </a:solidFill>
              </a:defRPr>
            </a:pPr>
            <a:r>
              <a:t>AIDAMS is an intelligent industrial monitoring platform designed to eliminate human latency and alert fatigue in smart manufacturing plants.</a:t>
            </a:r>
            <a:br/>
            <a:br/>
            <a:r>
              <a:t>By streaming high-frequency MQTT telemetry to a dual-tier Machine Learning core (Isolation Forest and Random Forest), the platform scores an Equipment Health Index (0-100%) and executes autonomous protective actions (breaker trips, cooling boosts, speed throttling) in under 2 seconds.</a:t>
            </a:r>
            <a:br/>
            <a:br/>
            <a:r>
              <a:t>Operators govern the system via an in-app interactive Rule Manager and live cloud dashboards.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5333695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KEY INDUSTRIAL MOTIVATIONS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94560"/>
            <a:ext cx="49377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b="1" sz="1200">
                <a:solidFill>
                  <a:srgbClr val="00F2FE"/>
                </a:solidFill>
              </a:rPr>
              <a:t>• Human Reaction Latency: </a:t>
            </a:r>
            <a:r>
              <a:rPr sz="1150">
                <a:solidFill>
                  <a:srgbClr val="E2E8F0"/>
                </a:solidFill>
              </a:rPr>
              <a:t>High-speed machinery fails in 2-5 seconds during thermal runaway; human operators cannot react fast enough.
</a:t>
            </a:r>
          </a:p>
          <a:p>
            <a:r>
              <a:rPr b="1" sz="1200">
                <a:solidFill>
                  <a:srgbClr val="00F2FE"/>
                </a:solidFill>
              </a:rPr>
              <a:t>• Eliminating Alarm Fatigue: </a:t>
            </a:r>
            <a:r>
              <a:rPr sz="1150">
                <a:solidFill>
                  <a:srgbClr val="E2E8F0"/>
                </a:solidFill>
              </a:rPr>
              <a:t>Static threshold alarms generate hundreds of false alarms; ML anomaly detection identifies true multivariate threats.
</a:t>
            </a:r>
          </a:p>
          <a:p>
            <a:r>
              <a:rPr b="1" sz="1200">
                <a:solidFill>
                  <a:srgbClr val="00F2FE"/>
                </a:solidFill>
              </a:rPr>
              <a:t>• Open User Governance: </a:t>
            </a:r>
            <a:r>
              <a:rPr sz="1150">
                <a:solidFill>
                  <a:srgbClr val="E2E8F0"/>
                </a:solidFill>
              </a:rPr>
              <a:t>Proprietary SCADA systems lock users out; AIDAMS provides an in-app rule editor to tune safety thresholds.
</a:t>
            </a:r>
          </a:p>
          <a:p>
            <a:r>
              <a:rPr b="1" sz="1200">
                <a:solidFill>
                  <a:srgbClr val="00F2FE"/>
                </a:solidFill>
              </a:rPr>
              <a:t>• 24/7 Zero-Cost Deployment: </a:t>
            </a:r>
            <a:r>
              <a:rPr sz="1150">
                <a:solidFill>
                  <a:srgbClr val="E2E8F0"/>
                </a:solidFill>
              </a:rPr>
              <a:t>Hosted 100% free using Streamlit Cloud, GitHub, HiveMQ Cloud, and Grafana Cloud.
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MINI PROJECT PRESENTATION | B.TECH (BATCH 2024–28)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 &amp; 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7548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E2E8F0"/>
                </a:solidFill>
              </a:defRPr>
            </a:pPr>
            <a:r>
              <a:t>Modern factories generate vast volumes of sensor data, yet monitoring remains largely reactive.</a:t>
            </a:r>
            <a:br/>
            <a:br/>
            <a:r>
              <a:t>• Fixed-threshold alarms miss complex multivariate anomalies where single sensors appear normal.</a:t>
            </a:r>
            <a:br/>
            <a:r>
              <a:t>• Catastrophic cascades (bearing seizure, thermal surge) destroy equipment before operators intervene.</a:t>
            </a:r>
            <a:br/>
            <a:r>
              <a:t>• Commercial enterprise IoT cloud suites impose steep recurring monthly costs ($1,000s/mo).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5333695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PROJECT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94560"/>
            <a:ext cx="49377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b="1" sz="1200">
                <a:solidFill>
                  <a:srgbClr val="10B981"/>
                </a:solidFill>
              </a:rPr>
              <a:t>✔ </a:t>
            </a:r>
            <a:r>
              <a:rPr sz="1150">
                <a:solidFill>
                  <a:srgbClr val="E2E8F0"/>
                </a:solidFill>
              </a:rPr>
              <a:t>Ingest 6 telemetry streams (Temp, Vib, Press, Current, Noise, RPM) over MQTT.
</a:t>
            </a:r>
          </a:p>
          <a:p>
            <a:r>
              <a:rPr b="1" sz="1200">
                <a:solidFill>
                  <a:srgbClr val="10B981"/>
                </a:solidFill>
              </a:rPr>
              <a:t>✔ </a:t>
            </a:r>
            <a:r>
              <a:rPr sz="1150">
                <a:solidFill>
                  <a:srgbClr val="E2E8F0"/>
                </a:solidFill>
              </a:rPr>
              <a:t>Deploy Isolation Forest for unsupervised anomaly detection without manual labeling.
</a:t>
            </a:r>
          </a:p>
          <a:p>
            <a:r>
              <a:rPr b="1" sz="1200">
                <a:solidFill>
                  <a:srgbClr val="10B981"/>
                </a:solidFill>
              </a:rPr>
              <a:t>✔ </a:t>
            </a:r>
            <a:r>
              <a:rPr sz="1150">
                <a:solidFill>
                  <a:srgbClr val="E2E8F0"/>
                </a:solidFill>
              </a:rPr>
              <a:t>Predict 5 failure modes and compute Equipment Health Index (0-100%).
</a:t>
            </a:r>
          </a:p>
          <a:p>
            <a:r>
              <a:rPr b="1" sz="1200">
                <a:solidFill>
                  <a:srgbClr val="10B981"/>
                </a:solidFill>
              </a:rPr>
              <a:t>✔ </a:t>
            </a:r>
            <a:r>
              <a:rPr sz="1150">
                <a:solidFill>
                  <a:srgbClr val="E2E8F0"/>
                </a:solidFill>
              </a:rPr>
              <a:t>Automate 4 protective actions (Trip Breaker, Boost Cooling, Throttle RPM, Dump Valve).
</a:t>
            </a:r>
          </a:p>
          <a:p>
            <a:r>
              <a:rPr b="1" sz="1200">
                <a:solidFill>
                  <a:srgbClr val="10B981"/>
                </a:solidFill>
              </a:rPr>
              <a:t>✔ </a:t>
            </a:r>
            <a:r>
              <a:rPr sz="1150">
                <a:solidFill>
                  <a:srgbClr val="E2E8F0"/>
                </a:solidFill>
              </a:rPr>
              <a:t>Provide an interactive UI where operators can add/edit rules live in production.
</a:t>
            </a:r>
          </a:p>
          <a:p>
            <a:r>
              <a:rPr b="1" sz="1200">
                <a:solidFill>
                  <a:srgbClr val="10B981"/>
                </a:solidFill>
              </a:rPr>
              <a:t>✔ </a:t>
            </a:r>
            <a:r>
              <a:rPr sz="1150">
                <a:solidFill>
                  <a:srgbClr val="E2E8F0"/>
                </a:solidFill>
              </a:rPr>
              <a:t>Integrate Node-RED flow orchestration and Grafana Cloud observability for 24/7 free access.
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MINI PROJECT PRESENTATION | B.TECH (BATCH 2024–28)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1. SENSING &amp; 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22860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ESP32 / Raspberry Pi / Physics Simulator</a:t>
            </a:r>
            <a:br/>
            <a:br/>
            <a:r>
              <a:t>• Temp, Vib, Pressure</a:t>
            </a:r>
            <a:br/>
            <a:r>
              <a:t>• Current, Noise, RPM</a:t>
            </a:r>
            <a:br/>
            <a:r>
              <a:t>• Publishes JSON at 1 Hz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45920"/>
            <a:ext cx="256032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2" y="17830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2. TRANSPORT (MQTT)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194560"/>
            <a:ext cx="22860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HiveMQ Cloud Free Broker (TLS 8883)</a:t>
            </a:r>
            <a:br/>
            <a:br/>
            <a:r>
              <a:t>• Topic: iot/telemetry/#</a:t>
            </a:r>
            <a:br/>
            <a:r>
              <a:t>• Topic: iot/actuator/#</a:t>
            </a:r>
            <a:br/>
            <a:r>
              <a:t>• Sub-second latency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645920"/>
            <a:ext cx="256032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17830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3. ML &amp;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2194560"/>
            <a:ext cx="22860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Dual-Tier Python Intelligence</a:t>
            </a:r>
            <a:br/>
            <a:br/>
            <a:r>
              <a:t>• Isolation Forest</a:t>
            </a:r>
            <a:br/>
            <a:r>
              <a:t>• Random Forest Classifier</a:t>
            </a:r>
            <a:br/>
            <a:r>
              <a:t>• Debounce Rule 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1645920"/>
            <a:ext cx="256032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4856" y="17830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4. COCKPIT &amp; CLOUD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3416" y="2194560"/>
            <a:ext cx="22860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Streamlit Cloud + Grafana + Node-RED</a:t>
            </a:r>
            <a:br/>
            <a:br/>
            <a:r>
              <a:t>• Live Digital Twin</a:t>
            </a:r>
            <a:br/>
            <a:r>
              <a:t>• Rule Editor &amp; Audit Log</a:t>
            </a:r>
            <a:br/>
            <a:r>
              <a:t>• 24/7 Global Web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MINI PROJECT PRESENTATION | B.TECH (BATCH 2024–28)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Full-Stack Technology Stack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926080"/>
                <a:gridCol w="5425135"/>
              </a:tblGrid>
              <a:tr h="65314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0F2FE"/>
                          </a:solidFill>
                        </a:defRPr>
                      </a:pPr>
                      <a:r>
                        <a:t>Layer / Component</a:t>
                      </a:r>
                    </a:p>
                  </a:txBody>
                  <a:tcPr anchor="ctr">
                    <a:solidFill>
                      <a:srgbClr val="10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0F2FE"/>
                          </a:solidFill>
                        </a:defRPr>
                      </a:pPr>
                      <a:r>
                        <a:t>Technology Selected</a:t>
                      </a:r>
                    </a:p>
                  </a:txBody>
                  <a:tcPr anchor="ctr">
                    <a:solidFill>
                      <a:srgbClr val="10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0F2FE"/>
                          </a:solidFill>
                        </a:defRPr>
                      </a:pPr>
                      <a:r>
                        <a:t>Role in Autonomous Platform</a:t>
                      </a:r>
                    </a:p>
                  </a:txBody>
                  <a:tcPr anchor="ctr">
                    <a:solidFill>
                      <a:srgbClr val="10346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E2E8F0"/>
                          </a:solidFill>
                        </a:defRPr>
                      </a:pPr>
                      <a:r>
                        <a:t>IoT Transport Protocol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E2E8F0"/>
                          </a:solidFill>
                        </a:defRPr>
                      </a:pPr>
                      <a:r>
                        <a:t>MQTT v3.1.1 / v5.0 (Paho MQTT v2)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2E8F0"/>
                          </a:solidFill>
                        </a:defRPr>
                      </a:pPr>
                      <a:r>
                        <a:t>Lightweight, low-bandwidth telemetry streaming with QoS-1 delivery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E2E8F0"/>
                          </a:solidFill>
                        </a:defRPr>
                      </a:pPr>
                      <a:r>
                        <a:t>Cloud Message Broker</a:t>
                      </a:r>
                    </a:p>
                  </a:txBody>
                  <a:tcPr anchor="ctr"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E2E8F0"/>
                          </a:solidFill>
                        </a:defRPr>
                      </a:pPr>
                      <a:r>
                        <a:t>HiveMQ Cloud Free (TLS 8883)</a:t>
                      </a:r>
                    </a:p>
                  </a:txBody>
                  <a:tcPr anchor="ctr"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2E8F0"/>
                          </a:solidFill>
                        </a:defRPr>
                      </a:pPr>
                      <a:r>
                        <a:t>Enterprise MQTT broker handling up to 100 devices 24/7 for $0</a:t>
                      </a:r>
                    </a:p>
                  </a:txBody>
                  <a:tcPr anchor="ctr">
                    <a:solidFill>
                      <a:srgbClr val="131B2E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E2E8F0"/>
                          </a:solidFill>
                        </a:defRPr>
                      </a:pPr>
                      <a:r>
                        <a:t>Edge Orchestration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E2E8F0"/>
                          </a:solidFill>
                        </a:defRPr>
                      </a:pPr>
                      <a:r>
                        <a:t>Node-RED Flows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2E8F0"/>
                          </a:solidFill>
                        </a:defRPr>
                      </a:pPr>
                      <a:r>
                        <a:t>Visual workflow dataflow; MQTT subscriber, thresholding, and webhook routing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E2E8F0"/>
                          </a:solidFill>
                        </a:defRPr>
                      </a:pPr>
                      <a:r>
                        <a:t>Machine Learning</a:t>
                      </a:r>
                    </a:p>
                  </a:txBody>
                  <a:tcPr anchor="ctr"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E2E8F0"/>
                          </a:solidFill>
                        </a:defRPr>
                      </a:pPr>
                      <a:r>
                        <a:t>Scikit-Learn (Isolation Forest &amp; RF)</a:t>
                      </a:r>
                    </a:p>
                  </a:txBody>
                  <a:tcPr anchor="ctr"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2E8F0"/>
                          </a:solidFill>
                        </a:defRPr>
                      </a:pPr>
                      <a:r>
                        <a:t>Unsupervised anomaly detection, multi-class diagnosis, and Health Index scoring</a:t>
                      </a:r>
                    </a:p>
                  </a:txBody>
                  <a:tcPr anchor="ctr">
                    <a:solidFill>
                      <a:srgbClr val="131B2E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E2E8F0"/>
                          </a:solidFill>
                        </a:defRPr>
                      </a:pPr>
                      <a:r>
                        <a:t>Interactive Web UI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E2E8F0"/>
                          </a:solidFill>
                        </a:defRPr>
                      </a:pPr>
                      <a:r>
                        <a:t>Streamlit Community Cloud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2E8F0"/>
                          </a:solidFill>
                        </a:defRPr>
                      </a:pPr>
                      <a:r>
                        <a:t>Live reactive digital twin, rule editor, Plotly charts, accessible from any browser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E2E8F0"/>
                          </a:solidFill>
                        </a:defRPr>
                      </a:pPr>
                      <a:r>
                        <a:t>Observability &amp; Analytics</a:t>
                      </a:r>
                    </a:p>
                  </a:txBody>
                  <a:tcPr anchor="ctr"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E2E8F0"/>
                          </a:solidFill>
                        </a:defRPr>
                      </a:pPr>
                      <a:r>
                        <a:t>Grafana Cloud Free Forever</a:t>
                      </a:r>
                    </a:p>
                  </a:txBody>
                  <a:tcPr anchor="ctr"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E2E8F0"/>
                          </a:solidFill>
                        </a:defRPr>
                      </a:pPr>
                      <a:r>
                        <a:t>Dark-mode industrial telemetry panels and automated threshold alerts</a:t>
                      </a:r>
                    </a:p>
                  </a:txBody>
                  <a:tcPr anchor="ctr">
                    <a:solidFill>
                      <a:srgbClr val="131B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MINI PROJECT PRESENTATION | B.TECH (BATCH 2024–28)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Machine Learning Engine &amp; Predictive Maintenance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DUAL-TIER ML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7548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• Tier 1: Isolation Forest (Unsupervised):</a:t>
            </a:r>
            <a:br/>
            <a:r>
              <a:t>  Recursively partitions feature space. Points requiring few splits are flagged as anomalies.   Detects novel zero-day drifts without requiring historical anomaly labels.</a:t>
            </a:r>
            <a:br/>
            <a:br/>
            <a:r>
              <a:t>• Tier 2: Random Forest Classifier (Supervised):</a:t>
            </a:r>
            <a:br/>
            <a:r>
              <a:t>  100 decision trees classifying failure modes: Normal, Bearing Wear, Thermal Runaway,   Cavitation, and Motor Overload with 100% test diagnostic accuracy.</a:t>
            </a:r>
            <a:br/>
            <a:br/>
            <a:r>
              <a:t>• Explainable AI (XAI):</a:t>
            </a:r>
            <a:br/>
            <a:r>
              <a:t>  Quantifies percentage deviation from nominal baseline for each sensor to reveal root cause.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5333695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EQUIPMENT HEALTH INDEX (EHI) 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94560"/>
            <a:ext cx="49377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E2E8F0"/>
                </a:solidFill>
              </a:defRPr>
            </a:pPr>
            <a:r>
              <a:t>Formula:</a:t>
            </a:r>
            <a:br/>
            <a:r>
              <a:t>   EHI = min(100, max(1, 0.60 * P_normal + 0.40 * S_norm))</a:t>
            </a:r>
            <a:br/>
            <a:br/>
            <a:r>
              <a:t>Operational Regimes:</a:t>
            </a:r>
            <a:br/>
            <a:r>
              <a:t>• EHI ≥ 75% : Optimal Health (Green)</a:t>
            </a:r>
            <a:br/>
            <a:r>
              <a:t>• 45% ≤ EHI &lt; 75% : Maintenance Warning (Amber)</a:t>
            </a:r>
            <a:br/>
            <a:r>
              <a:t>• EHI &lt; 45% : Critical Failure Cascade (Red)</a:t>
            </a:r>
            <a:br/>
            <a:br/>
            <a:r>
              <a:t>When EHI falls below 45%, the Autonomous Decision Engine automatically triggers protective actuators and generates maintenance alert tickets.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MINI PROJECT PRESENTATION | B.TECH (BATCH 2024–28)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Autonomous Protective Actions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2286000"/>
                <a:gridCol w="3596335"/>
              </a:tblGrid>
              <a:tr h="7620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0F2FE"/>
                          </a:solidFill>
                        </a:defRPr>
                      </a:pPr>
                      <a:r>
                        <a:t>Target Asset</a:t>
                      </a:r>
                    </a:p>
                  </a:txBody>
                  <a:tcPr anchor="ctr">
                    <a:solidFill>
                      <a:srgbClr val="7C2D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0F2FE"/>
                          </a:solidFill>
                        </a:defRPr>
                      </a:pPr>
                      <a:r>
                        <a:t>Trigger Threshold Condition</a:t>
                      </a:r>
                    </a:p>
                  </a:txBody>
                  <a:tcPr anchor="ctr">
                    <a:solidFill>
                      <a:srgbClr val="7C2D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0F2FE"/>
                          </a:solidFill>
                        </a:defRPr>
                      </a:pPr>
                      <a:r>
                        <a:t>Autonomous Action</a:t>
                      </a:r>
                    </a:p>
                  </a:txBody>
                  <a:tcPr anchor="ctr">
                    <a:solidFill>
                      <a:srgbClr val="7C2D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0F2FE"/>
                          </a:solidFill>
                        </a:defRPr>
                      </a:pPr>
                      <a:r>
                        <a:t>Actuation &amp; Protective Countermeasure</a:t>
                      </a:r>
                    </a:p>
                  </a:txBody>
                  <a:tcPr anchor="ctr">
                    <a:solidFill>
                      <a:srgbClr val="7C2D1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2E8F0"/>
                          </a:solidFill>
                        </a:defRPr>
                      </a:pPr>
                      <a:r>
                        <a:t>MCH-007 (Bottle Filling)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2E8F0"/>
                          </a:solidFill>
                        </a:defRPr>
                      </a:pPr>
                      <a:r>
                        <a:t>Temp ≥ 88°C OR Vib ≥ 4.0 mm/s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2E8F0"/>
                          </a:solidFill>
                        </a:defRPr>
                      </a:pPr>
                      <a:r>
                        <a:t>EMERGENCY_FAULT_STOP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2E8F0"/>
                          </a:solidFill>
                        </a:defRPr>
                      </a:pPr>
                      <a:r>
                        <a:t>Fill valve shut, conveyor to 0%, cooling pump to MAXIMUM (100%)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2E8F0"/>
                          </a:solidFill>
                        </a:defRPr>
                      </a:pPr>
                      <a:r>
                        <a:t>CNC-003 (Precision Milling)</a:t>
                      </a:r>
                    </a:p>
                  </a:txBody>
                  <a:tcPr anchor="ctr"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2E8F0"/>
                          </a:solidFill>
                        </a:defRPr>
                      </a:pPr>
                      <a:r>
                        <a:t>Spindle Temp &gt; 85°C OR Vib &gt; 5.5 mm/s</a:t>
                      </a:r>
                    </a:p>
                  </a:txBody>
                  <a:tcPr anchor="ctr"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2E8F0"/>
                          </a:solidFill>
                        </a:defRPr>
                      </a:pPr>
                      <a:r>
                        <a:t>SPINDLE_SAFETY_TRIP</a:t>
                      </a:r>
                    </a:p>
                  </a:txBody>
                  <a:tcPr anchor="ctr"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2E8F0"/>
                          </a:solidFill>
                        </a:defRPr>
                      </a:pPr>
                      <a:r>
                        <a:t>Spindle brake engaged, feed rate 0 mm/min, flood coolant 100%</a:t>
                      </a:r>
                    </a:p>
                  </a:txBody>
                  <a:tcPr anchor="ctr">
                    <a:solidFill>
                      <a:srgbClr val="131B2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2E8F0"/>
                          </a:solidFill>
                        </a:defRPr>
                      </a:pPr>
                      <a:r>
                        <a:t>CONV-012 (Logistics Conveyor)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2E8F0"/>
                          </a:solidFill>
                        </a:defRPr>
                      </a:pPr>
                      <a:r>
                        <a:t>Motor Temp &gt; 80°C OR Belt Tension &gt; 620 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2E8F0"/>
                          </a:solidFill>
                        </a:defRPr>
                      </a:pPr>
                      <a:r>
                        <a:t>EMERGENCY_CONVEYOR_HALT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2E8F0"/>
                          </a:solidFill>
                        </a:defRPr>
                      </a:pPr>
                      <a:r>
                        <a:t>Drive motor powered off, diverter gate opened to bypass bin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2E8F0"/>
                          </a:solidFill>
                        </a:defRPr>
                      </a:pPr>
                      <a:r>
                        <a:t>ENV-001 (Air Quality Unit)</a:t>
                      </a:r>
                    </a:p>
                  </a:txBody>
                  <a:tcPr anchor="ctr"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2E8F0"/>
                          </a:solidFill>
                        </a:defRPr>
                      </a:pPr>
                      <a:r>
                        <a:t>Gas &gt; 250 ppm OR Smoke &gt; 80 ppm</a:t>
                      </a:r>
                    </a:p>
                  </a:txBody>
                  <a:tcPr anchor="ctr"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2E8F0"/>
                          </a:solidFill>
                        </a:defRPr>
                      </a:pPr>
                      <a:r>
                        <a:t>HAZMAT_EVACUATION_PURGE</a:t>
                      </a:r>
                    </a:p>
                  </a:txBody>
                  <a:tcPr anchor="ctr"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2E8F0"/>
                          </a:solidFill>
                        </a:defRPr>
                      </a:pPr>
                      <a:r>
                        <a:t>Fresh air intake shut, exhaust fans 100%, plant evacuation siren</a:t>
                      </a:r>
                    </a:p>
                  </a:txBody>
                  <a:tcPr anchor="ctr">
                    <a:solidFill>
                      <a:srgbClr val="131B2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2E8F0"/>
                          </a:solidFill>
                        </a:defRPr>
                      </a:pPr>
                      <a:r>
                        <a:t>Generic Pump / Turbine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2E8F0"/>
                          </a:solidFill>
                        </a:defRPr>
                      </a:pPr>
                      <a:r>
                        <a:t>Health &lt; 45% OR Temp &gt; 90°C with Anomaly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2E8F0"/>
                          </a:solidFill>
                        </a:defRPr>
                      </a:pPr>
                      <a:r>
                        <a:t>EMERGENCY_SHUTDOWN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2E8F0"/>
                          </a:solidFill>
                        </a:defRPr>
                      </a:pPr>
                      <a:r>
                        <a:t>Main circuit breaker tripped offline, auxiliary cooling boosted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MINI PROJECT PRESENTATION | B.TECH (BATCH 2024–28)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User-Configurable Autonomous Rule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OPERATOR LIVE CUSTOMIZATION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7548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• Dynamic Threshold Tuning:</a:t>
            </a:r>
            <a:br/>
            <a:r>
              <a:t>  Plant engineers can adjust temperature, vibration, and health cutoffs live in the UI   without restarting application servers.</a:t>
            </a:r>
            <a:br/>
            <a:br/>
            <a:r>
              <a:t>• Rule Toggles:</a:t>
            </a:r>
            <a:br/>
            <a:r>
              <a:t>  Each safety rule features an instant Enable/Disable switch.</a:t>
            </a:r>
            <a:br/>
            <a:br/>
            <a:r>
              <a:t>• Custom Rule Builder:</a:t>
            </a:r>
            <a:br/>
            <a:r>
              <a:t>  Operators can construct new conditional rules pairing sensor attributes with custom actuator topics.</a:t>
            </a:r>
            <a:br/>
            <a:br/>
            <a:r>
              <a:t>• Anti-Flapping Debounce:</a:t>
            </a:r>
            <a:br/>
            <a:r>
              <a:t>  Configurable cooldown debounce timers (default 30s) prevent electromechanical relay chatter.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5333695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MANUAL OVERRIDE &amp; AUDIT TRAIL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94560"/>
            <a:ext cx="49377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• Emergency Manual Reset:</a:t>
            </a:r>
            <a:br/>
            <a:r>
              <a:t>  A one-click manual override clears tripped circuit breaker states and restores baseline   actuator positions after physical inspection.</a:t>
            </a:r>
            <a:br/>
            <a:br/>
            <a:r>
              <a:t>• Immutable Audit Trail:</a:t>
            </a:r>
            <a:br/>
            <a:r>
              <a:t>  Every autonomous decision is permanently logged with:</a:t>
            </a:r>
            <a:br/>
            <a:r>
              <a:t>  - UTC Timestamp</a:t>
            </a:r>
            <a:br/>
            <a:r>
              <a:t>  - Rule ID and Severity Level</a:t>
            </a:r>
            <a:br/>
            <a:r>
              <a:t>  - Triggering Sensor Deviations</a:t>
            </a:r>
            <a:br/>
            <a:r>
              <a:t>  - Digital Twin Actuator States</a:t>
            </a:r>
            <a:br/>
            <a:r>
              <a:t>  - Webhook Notification Status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MINI PROJECT PRESENTATION | B.TECH (BATCH 2024–28)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24/7 Free Cloud Hosting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Streamlit Community 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22860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F4444"/>
                </a:solidFill>
              </a:defRPr>
            </a:pPr>
            <a:r>
              <a:t>FRONTEND &amp; ANALYTICS CORE</a:t>
            </a:r>
          </a:p>
          <a:p>
            <a:br/>
            <a:pPr>
              <a:defRPr sz="1200">
                <a:solidFill>
                  <a:srgbClr val="E2E8F0"/>
                </a:solidFill>
              </a:defRPr>
            </a:pPr>
            <a:r>
              <a:t>• Hosted 24/7 on AWS/GCP</a:t>
            </a:r>
            <a:br/>
            <a:r>
              <a:t>• 100% Free Forever</a:t>
            </a:r>
            <a:br/>
            <a:r>
              <a:t>• share.streamlit.io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45920"/>
            <a:ext cx="256032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2" y="17830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GitHub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194560"/>
            <a:ext cx="22860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CI/CD &amp; VERSION CONTROL</a:t>
            </a:r>
          </a:p>
          <a:p>
            <a:br/>
            <a:pPr>
              <a:defRPr sz="1200">
                <a:solidFill>
                  <a:srgbClr val="E2E8F0"/>
                </a:solidFill>
              </a:defRPr>
            </a:pPr>
            <a:r>
              <a:t>• Public repository</a:t>
            </a:r>
            <a:br/>
            <a:r>
              <a:t>• Auto-deployment triggers</a:t>
            </a:r>
            <a:br/>
            <a:r>
              <a:t>• Open-source codebase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645920"/>
            <a:ext cx="256032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17830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HiveMQ Cloud Broker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2194560"/>
            <a:ext cx="22860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F2FE"/>
                </a:solidFill>
              </a:defRPr>
            </a:pPr>
            <a:r>
              <a:t>IOT TELEMETRY INGESTION</a:t>
            </a:r>
          </a:p>
          <a:p>
            <a:br/>
            <a:pPr>
              <a:defRPr sz="1200">
                <a:solidFill>
                  <a:srgbClr val="E2E8F0"/>
                </a:solidFill>
              </a:defRPr>
            </a:pPr>
            <a:r>
              <a:t>• Free cluster for 100 devices</a:t>
            </a:r>
            <a:br/>
            <a:r>
              <a:t>• TLS 8883 port encryption</a:t>
            </a:r>
            <a:br/>
            <a:r>
              <a:t>• Global MQTT transport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1645920"/>
            <a:ext cx="256032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4856" y="17830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Grafana Cloud Free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3416" y="2194560"/>
            <a:ext cx="22860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OBSERVABILITY &amp; PANELS</a:t>
            </a:r>
          </a:p>
          <a:p>
            <a:br/>
            <a:pPr>
              <a:defRPr sz="1200">
                <a:solidFill>
                  <a:srgbClr val="E2E8F0"/>
                </a:solidFill>
              </a:defRPr>
            </a:pPr>
            <a:r>
              <a:t>• 10,000 active metrics</a:t>
            </a:r>
            <a:br/>
            <a:r>
              <a:t>• 3 interactive dashboards</a:t>
            </a:r>
            <a:br/>
            <a:r>
              <a:t>• 24/7 alert rules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MINI PROJECT PRESENTATION | B.TECH (BATCH 2024–28)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Test Results &amp; Performance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AUTOMATED TEST SUITE (100% PASS)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7548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0B981"/>
                </a:solidFill>
              </a:defRPr>
            </a:pPr>
            <a:r>
              <a:t>✔ ML Diagnostic Accuracy: 100.0% across 2,500 samples</a:t>
            </a:r>
            <a:br/>
            <a:br/>
            <a:r>
              <a:t>✔ Baseline Telemetry: Health Index = 79.8%, Normal Operation</a:t>
            </a:r>
            <a:br/>
            <a:br/>
            <a:r>
              <a:t>✔ Fault Injection (Overheating): Health dropped to 12.0%, Emergency Shutdown fired</a:t>
            </a:r>
            <a:br/>
            <a:br/>
            <a:r>
              <a:t>✔ Debounce Logic: Prevented duplicate firing during 30s window</a:t>
            </a:r>
            <a:br/>
            <a:br/>
            <a:r>
              <a:t>✔ Node-RED JSON Flow: Validated with 10 nodes</a:t>
            </a:r>
            <a:br/>
            <a:br/>
            <a:r>
              <a:t>✔ Grafana Model: Schema v38 validated with 6 panels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5333695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PERFORMANCE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94560"/>
            <a:ext cx="49377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Key Performance Metrics:</a:t>
            </a:r>
            <a:br/>
            <a:br/>
            <a:r>
              <a:t>• Response Time: &lt; 2.0 seconds from sensor fault injection to protective actuator trigger.</a:t>
            </a:r>
            <a:br/>
            <a:br/>
            <a:r>
              <a:t>• Anomaly Detection Latency: ~4.5 ms per telemetry packet on standard CPU.</a:t>
            </a:r>
            <a:br/>
            <a:br/>
            <a:r>
              <a:t>• Memory Footprint: ~140 MB total RAM on Streamlit Community Cloud.</a:t>
            </a:r>
            <a:br/>
            <a:br/>
            <a:r>
              <a:t>• Multi-Device Concurrency: 100 simultaneous edge microcontrollers supported at 1 Hz.</a:t>
            </a:r>
            <a:br/>
            <a:br/>
            <a:r>
              <a:t>• Ongoing Operational Cost: $0.00 / month.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MINI PROJECT PRESENTATION | B.TECH (BATCH 2024–28)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Conclusion &amp; Future Research Directions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PROJECT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7548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The Autonomous IoT Decision and Alert Management Platform demonstrates that industrial-grade predictive maintenance and closed-loop safety can be achieved using open-source, vendor-agnostic, and 100% free cloud infrastructure.</a:t>
            </a:r>
            <a:br/>
            <a:br/>
            <a:r>
              <a:t>• Sub-2-second intervention protects rotating assets from catastrophic failure.</a:t>
            </a:r>
            <a:br/>
            <a:r>
              <a:t>• User-tunable rule registry provides complete operational governance.</a:t>
            </a:r>
            <a:br/>
            <a:r>
              <a:t>• Multi-platform visualization via Streamlit, Node-RED, and Grafana Cloud.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5333695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4876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94560"/>
            <a:ext cx="49377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• TinyML on Edge Microcontrollers:</a:t>
            </a:r>
            <a:br/>
            <a:r>
              <a:t>  Quantize models to run directly on ESP32-S3 / STM32 for offline edge inference.</a:t>
            </a:r>
            <a:br/>
            <a:br/>
            <a:r>
              <a:t>• Reinforcement Learning (RL):</a:t>
            </a:r>
            <a:br/>
            <a:r>
              <a:t>  Deep Q-networks for autonomous energy optimization during peak tariffs.</a:t>
            </a:r>
            <a:br/>
            <a:br/>
            <a:r>
              <a:t>• LoRaWAN Long-Range Telemetry:</a:t>
            </a:r>
            <a:br/>
            <a:r>
              <a:t>  Support remote agricultural and offshore wind turbine monitoring.</a:t>
            </a:r>
            <a:br/>
            <a:br/>
            <a:r>
              <a:t>• Enterprise Modbus / OPC-UA:</a:t>
            </a:r>
            <a:br/>
            <a:r>
              <a:t>  Direct edge hardware bridge for legacy factory PLCs.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F2FE"/>
                </a:solidFill>
              </a:defRPr>
            </a:pPr>
            <a:r>
              <a:t>THANK YOU!</a:t>
            </a:r>
          </a:p>
          <a:p>
            <a:pPr algn="ctr">
              <a:defRPr sz="2000">
                <a:solidFill>
                  <a:srgbClr val="38BDF8"/>
                </a:solidFill>
              </a:defRPr>
            </a:pPr>
            <a:r>
              <a:t>Questions &amp; Discussion</a:t>
            </a:r>
          </a:p>
          <a:p>
            <a:pPr algn="ctr">
              <a:defRPr sz="1400">
                <a:solidFill>
                  <a:srgbClr val="E2E8F0"/>
                </a:solidFill>
              </a:defRPr>
            </a:pPr>
            <a:br/>
            <a:r>
              <a:t>Chinmay Prakash | Roll No: 2400320310060 | ABES Engineering College</a:t>
            </a:r>
            <a:br/>
            <a:r>
              <a:t>Guided by: Ashish Kumar | B.Tech ECE (Batch 2024–28)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br/>
            <a:r>
              <a:t>Live Project Repository: github.com/prakashchinmay2211-bot/iot-autonomous-alert-platform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